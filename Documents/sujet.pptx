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125999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969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25" d="100"/>
          <a:sy n="25" d="100"/>
        </p:scale>
        <p:origin x="2400" y="504"/>
      </p:cViewPr>
      <p:guideLst>
        <p:guide orient="horz" pos="3969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914165"/>
            <a:ext cx="7772400" cy="270083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7139994"/>
            <a:ext cx="6400800" cy="3219996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8096660"/>
            <a:ext cx="7772400" cy="2502497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5340414"/>
            <a:ext cx="7772400" cy="275624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2939999"/>
            <a:ext cx="4038600" cy="831541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939999"/>
            <a:ext cx="4038600" cy="831541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820415"/>
            <a:ext cx="4040188" cy="1175414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3995829"/>
            <a:ext cx="4040188" cy="725957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7" y="2820415"/>
            <a:ext cx="4041775" cy="1175414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7" y="3995829"/>
            <a:ext cx="4041775" cy="725957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501667"/>
            <a:ext cx="3008313" cy="213499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501668"/>
            <a:ext cx="5111750" cy="1075374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2636666"/>
            <a:ext cx="3008313" cy="861874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8819992"/>
            <a:ext cx="5486400" cy="10412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25832"/>
            <a:ext cx="5486400" cy="755999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9861243"/>
            <a:ext cx="5486400" cy="14787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504586"/>
            <a:ext cx="2057400" cy="1075082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504586"/>
            <a:ext cx="6019800" cy="1075082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504584"/>
            <a:ext cx="8229600" cy="20999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939999"/>
            <a:ext cx="8229600" cy="83154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11678323"/>
            <a:ext cx="2133600" cy="670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11678323"/>
            <a:ext cx="2895600" cy="670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11678323"/>
            <a:ext cx="2133600" cy="670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43820" y="778471"/>
            <a:ext cx="1846023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rPr sz="1400" dirty="0"/>
              <a:t>Données </a:t>
            </a:r>
            <a:r>
              <a:rPr sz="1400" dirty="0" err="1"/>
              <a:t>hétérogènes</a:t>
            </a:r>
            <a:r>
              <a:rPr sz="1400" dirty="0"/>
              <a:t> (</a:t>
            </a:r>
            <a:r>
              <a:rPr lang="fr-FR" sz="1400" dirty="0"/>
              <a:t>images </a:t>
            </a:r>
            <a:r>
              <a:rPr sz="1400" dirty="0"/>
              <a:t>raster, </a:t>
            </a:r>
            <a:r>
              <a:rPr sz="1400" dirty="0" err="1"/>
              <a:t>séries</a:t>
            </a:r>
            <a:r>
              <a:rPr sz="1400" dirty="0"/>
              <a:t> </a:t>
            </a:r>
            <a:r>
              <a:rPr sz="1400" dirty="0" err="1"/>
              <a:t>temporelles</a:t>
            </a:r>
            <a:r>
              <a:rPr lang="fr-FR" sz="1400" dirty="0"/>
              <a:t> de pression, pollution…</a:t>
            </a:r>
            <a:r>
              <a:rPr sz="1400" dirty="0"/>
              <a:t>)</a:t>
            </a:r>
          </a:p>
        </p:txBody>
      </p:sp>
      <p:sp>
        <p:nvSpPr>
          <p:cNvPr id="5" name="Rectangle 4"/>
          <p:cNvSpPr/>
          <p:nvPr/>
        </p:nvSpPr>
        <p:spPr>
          <a:xfrm>
            <a:off x="3705015" y="771367"/>
            <a:ext cx="1846023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rPr sz="1400" dirty="0"/>
              <a:t>Ontologies sources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407045" y="3610294"/>
            <a:ext cx="2461364" cy="91440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400"/>
            </a:pPr>
            <a:r>
              <a:rPr lang="fr-FR" sz="1400" dirty="0"/>
              <a:t>Méta-ontologie LULC-Water </a:t>
            </a:r>
            <a:r>
              <a:rPr sz="1400" dirty="0"/>
              <a:t>/ </a:t>
            </a:r>
            <a:r>
              <a:rPr sz="1400" dirty="0" err="1"/>
              <a:t>Graphe</a:t>
            </a:r>
            <a:r>
              <a:rPr sz="1400" dirty="0"/>
              <a:t> de </a:t>
            </a:r>
            <a:r>
              <a:rPr sz="1400" dirty="0" err="1"/>
              <a:t>connaissance</a:t>
            </a:r>
            <a:endParaRPr sz="1400" dirty="0"/>
          </a:p>
        </p:txBody>
      </p:sp>
      <p:sp>
        <p:nvSpPr>
          <p:cNvPr id="8" name="Rectangle 7"/>
          <p:cNvSpPr/>
          <p:nvPr/>
        </p:nvSpPr>
        <p:spPr>
          <a:xfrm>
            <a:off x="1820020" y="11593017"/>
            <a:ext cx="2461364" cy="91440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400"/>
            </a:pPr>
            <a:r>
              <a:rPr lang="fr-FR" sz="1400" dirty="0"/>
              <a:t>Interprétation sémantique </a:t>
            </a:r>
            <a:endParaRPr sz="1400" dirty="0"/>
          </a:p>
        </p:txBody>
      </p:sp>
      <p:cxnSp>
        <p:nvCxnSpPr>
          <p:cNvPr id="10" name="Connecteur droit avec flèche 9">
            <a:extLst>
              <a:ext uri="{FF2B5EF4-FFF2-40B4-BE49-F238E27FC236}">
                <a16:creationId xmlns:a16="http://schemas.microsoft.com/office/drawing/2014/main" id="{D1D93235-05E5-4F2B-59FC-72682803DAD4}"/>
              </a:ext>
            </a:extLst>
          </p:cNvPr>
          <p:cNvCxnSpPr>
            <a:cxnSpLocks/>
            <a:stCxn id="5" idx="2"/>
            <a:endCxn id="45" idx="0"/>
          </p:cNvCxnSpPr>
          <p:nvPr/>
        </p:nvCxnSpPr>
        <p:spPr>
          <a:xfrm>
            <a:off x="4628027" y="1685767"/>
            <a:ext cx="1" cy="2605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eur droit avec flèche 15">
            <a:extLst>
              <a:ext uri="{FF2B5EF4-FFF2-40B4-BE49-F238E27FC236}">
                <a16:creationId xmlns:a16="http://schemas.microsoft.com/office/drawing/2014/main" id="{D585C876-428A-6833-B28A-594EBD87FFDE}"/>
              </a:ext>
            </a:extLst>
          </p:cNvPr>
          <p:cNvCxnSpPr>
            <a:cxnSpLocks/>
            <a:stCxn id="48" idx="2"/>
            <a:endCxn id="8" idx="0"/>
          </p:cNvCxnSpPr>
          <p:nvPr/>
        </p:nvCxnSpPr>
        <p:spPr>
          <a:xfrm>
            <a:off x="3050702" y="11291751"/>
            <a:ext cx="0" cy="3012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eur : en angle 32">
            <a:extLst>
              <a:ext uri="{FF2B5EF4-FFF2-40B4-BE49-F238E27FC236}">
                <a16:creationId xmlns:a16="http://schemas.microsoft.com/office/drawing/2014/main" id="{E4E704E4-BE5F-75AD-C300-9448A5EEE3CE}"/>
              </a:ext>
            </a:extLst>
          </p:cNvPr>
          <p:cNvCxnSpPr>
            <a:cxnSpLocks/>
            <a:stCxn id="6" idx="2"/>
            <a:endCxn id="63" idx="3"/>
          </p:cNvCxnSpPr>
          <p:nvPr/>
        </p:nvCxnSpPr>
        <p:spPr>
          <a:xfrm rot="5400000">
            <a:off x="4014755" y="4704814"/>
            <a:ext cx="803092" cy="442853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eur : en angle 35">
            <a:extLst>
              <a:ext uri="{FF2B5EF4-FFF2-40B4-BE49-F238E27FC236}">
                <a16:creationId xmlns:a16="http://schemas.microsoft.com/office/drawing/2014/main" id="{D9D24386-09C4-56AE-33D6-DF1B68B300FD}"/>
              </a:ext>
            </a:extLst>
          </p:cNvPr>
          <p:cNvCxnSpPr>
            <a:cxnSpLocks/>
            <a:stCxn id="4" idx="2"/>
            <a:endCxn id="63" idx="1"/>
          </p:cNvCxnSpPr>
          <p:nvPr/>
        </p:nvCxnSpPr>
        <p:spPr>
          <a:xfrm rot="16200000" flipH="1">
            <a:off x="-230777" y="3190479"/>
            <a:ext cx="3634915" cy="63969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Losange 44">
            <a:extLst>
              <a:ext uri="{FF2B5EF4-FFF2-40B4-BE49-F238E27FC236}">
                <a16:creationId xmlns:a16="http://schemas.microsoft.com/office/drawing/2014/main" id="{CB8A7F5E-FECA-055D-444A-C2AAD848E9E4}"/>
              </a:ext>
            </a:extLst>
          </p:cNvPr>
          <p:cNvSpPr/>
          <p:nvPr/>
        </p:nvSpPr>
        <p:spPr>
          <a:xfrm>
            <a:off x="3339933" y="1946302"/>
            <a:ext cx="2576189" cy="1194265"/>
          </a:xfrm>
          <a:prstGeom prst="diamond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solidFill>
                  <a:schemeClr val="tx1"/>
                </a:solidFill>
              </a:rPr>
              <a:t>Enrichissement / Alignement</a:t>
            </a:r>
          </a:p>
        </p:txBody>
      </p:sp>
      <p:sp>
        <p:nvSpPr>
          <p:cNvPr id="46" name="Losange 45">
            <a:extLst>
              <a:ext uri="{FF2B5EF4-FFF2-40B4-BE49-F238E27FC236}">
                <a16:creationId xmlns:a16="http://schemas.microsoft.com/office/drawing/2014/main" id="{8B6AA351-8FE2-AAA4-599B-7C755E1A7208}"/>
              </a:ext>
            </a:extLst>
          </p:cNvPr>
          <p:cNvSpPr/>
          <p:nvPr/>
        </p:nvSpPr>
        <p:spPr>
          <a:xfrm>
            <a:off x="1654301" y="7399826"/>
            <a:ext cx="2792797" cy="1194265"/>
          </a:xfrm>
          <a:prstGeom prst="diamond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rPr lang="fr-FR" sz="1400" dirty="0">
                <a:solidFill>
                  <a:schemeClr val="tx1"/>
                </a:solidFill>
              </a:rPr>
              <a:t>Modèle GNN + XAI (</a:t>
            </a:r>
            <a:r>
              <a:rPr lang="fr-FR" sz="1400" dirty="0" err="1">
                <a:solidFill>
                  <a:schemeClr val="tx1"/>
                </a:solidFill>
              </a:rPr>
              <a:t>GNNExplainer</a:t>
            </a:r>
            <a:r>
              <a:rPr lang="fr-FR" sz="140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0B4126F5-4462-0E6B-94E2-03908C426BDF}"/>
              </a:ext>
            </a:extLst>
          </p:cNvPr>
          <p:cNvSpPr/>
          <p:nvPr/>
        </p:nvSpPr>
        <p:spPr>
          <a:xfrm>
            <a:off x="1820020" y="8878935"/>
            <a:ext cx="2461364" cy="91440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400"/>
            </a:pPr>
            <a:r>
              <a:rPr lang="fr-FR" sz="1400" dirty="0">
                <a:solidFill>
                  <a:schemeClr val="tx1"/>
                </a:solidFill>
              </a:rPr>
              <a:t>Prédiction hydrique des états futurs (niveau de nappe, indice de stress hydrique) pour chaque nœud </a:t>
            </a:r>
            <a:endParaRPr lang="fr-FR" sz="1400" dirty="0"/>
          </a:p>
        </p:txBody>
      </p:sp>
      <p:sp>
        <p:nvSpPr>
          <p:cNvPr id="48" name="Losange 47">
            <a:extLst>
              <a:ext uri="{FF2B5EF4-FFF2-40B4-BE49-F238E27FC236}">
                <a16:creationId xmlns:a16="http://schemas.microsoft.com/office/drawing/2014/main" id="{210122A0-83AC-3E64-E38F-A58CA2340B9F}"/>
              </a:ext>
            </a:extLst>
          </p:cNvPr>
          <p:cNvSpPr/>
          <p:nvPr/>
        </p:nvSpPr>
        <p:spPr>
          <a:xfrm>
            <a:off x="1727080" y="10097486"/>
            <a:ext cx="2647244" cy="1194265"/>
          </a:xfrm>
          <a:prstGeom prst="diamond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solidFill>
                  <a:schemeClr val="tx1"/>
                </a:solidFill>
              </a:rPr>
              <a:t>Module d'explication</a:t>
            </a:r>
          </a:p>
        </p:txBody>
      </p:sp>
      <p:sp>
        <p:nvSpPr>
          <p:cNvPr id="49" name="Losange 48">
            <a:extLst>
              <a:ext uri="{FF2B5EF4-FFF2-40B4-BE49-F238E27FC236}">
                <a16:creationId xmlns:a16="http://schemas.microsoft.com/office/drawing/2014/main" id="{55F147BE-F2D5-840D-4337-F47F8DD4C6CB}"/>
              </a:ext>
            </a:extLst>
          </p:cNvPr>
          <p:cNvSpPr/>
          <p:nvPr/>
        </p:nvSpPr>
        <p:spPr>
          <a:xfrm>
            <a:off x="6252667" y="1914074"/>
            <a:ext cx="1930380" cy="1194265"/>
          </a:xfrm>
          <a:prstGeom prst="diamond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solidFill>
                  <a:schemeClr val="tx1"/>
                </a:solidFill>
              </a:rPr>
              <a:t>Extraction textuelle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CF675D55-BD6C-C275-2374-A2A153E2B9D2}"/>
              </a:ext>
            </a:extLst>
          </p:cNvPr>
          <p:cNvSpPr/>
          <p:nvPr/>
        </p:nvSpPr>
        <p:spPr>
          <a:xfrm>
            <a:off x="6294847" y="680992"/>
            <a:ext cx="1846023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rPr lang="fr-FR" sz="1400" dirty="0"/>
              <a:t>Sources textuelles (articles scientifiques)</a:t>
            </a:r>
            <a:endParaRPr sz="1400" dirty="0"/>
          </a:p>
        </p:txBody>
      </p:sp>
      <p:cxnSp>
        <p:nvCxnSpPr>
          <p:cNvPr id="52" name="Connecteur droit avec flèche 51">
            <a:extLst>
              <a:ext uri="{FF2B5EF4-FFF2-40B4-BE49-F238E27FC236}">
                <a16:creationId xmlns:a16="http://schemas.microsoft.com/office/drawing/2014/main" id="{BB6E2A0A-534D-25EC-F051-426EBD1316C2}"/>
              </a:ext>
            </a:extLst>
          </p:cNvPr>
          <p:cNvCxnSpPr>
            <a:stCxn id="50" idx="2"/>
            <a:endCxn id="49" idx="0"/>
          </p:cNvCxnSpPr>
          <p:nvPr/>
        </p:nvCxnSpPr>
        <p:spPr>
          <a:xfrm flipH="1">
            <a:off x="7217858" y="1595393"/>
            <a:ext cx="1" cy="3186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eur : en angle 53">
            <a:extLst>
              <a:ext uri="{FF2B5EF4-FFF2-40B4-BE49-F238E27FC236}">
                <a16:creationId xmlns:a16="http://schemas.microsoft.com/office/drawing/2014/main" id="{1FE32F5F-8B52-3DFE-00F7-7D7D2777B93C}"/>
              </a:ext>
            </a:extLst>
          </p:cNvPr>
          <p:cNvCxnSpPr>
            <a:cxnSpLocks/>
            <a:stCxn id="49" idx="2"/>
            <a:endCxn id="6" idx="3"/>
          </p:cNvCxnSpPr>
          <p:nvPr/>
        </p:nvCxnSpPr>
        <p:spPr>
          <a:xfrm rot="5400000">
            <a:off x="6063555" y="2913192"/>
            <a:ext cx="959156" cy="1349448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eur droit avec flèche 59">
            <a:extLst>
              <a:ext uri="{FF2B5EF4-FFF2-40B4-BE49-F238E27FC236}">
                <a16:creationId xmlns:a16="http://schemas.microsoft.com/office/drawing/2014/main" id="{094D0389-9F32-C15A-A9BD-EBDE8D5D9DCB}"/>
              </a:ext>
            </a:extLst>
          </p:cNvPr>
          <p:cNvCxnSpPr>
            <a:cxnSpLocks/>
            <a:stCxn id="45" idx="2"/>
            <a:endCxn id="6" idx="0"/>
          </p:cNvCxnSpPr>
          <p:nvPr/>
        </p:nvCxnSpPr>
        <p:spPr>
          <a:xfrm>
            <a:off x="4628027" y="3140566"/>
            <a:ext cx="9700" cy="4697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Losange 62">
            <a:extLst>
              <a:ext uri="{FF2B5EF4-FFF2-40B4-BE49-F238E27FC236}">
                <a16:creationId xmlns:a16="http://schemas.microsoft.com/office/drawing/2014/main" id="{F2DBA551-0224-3EB1-D588-A24E12D08CEA}"/>
              </a:ext>
            </a:extLst>
          </p:cNvPr>
          <p:cNvSpPr/>
          <p:nvPr/>
        </p:nvSpPr>
        <p:spPr>
          <a:xfrm>
            <a:off x="1906529" y="4730653"/>
            <a:ext cx="2288345" cy="1194265"/>
          </a:xfrm>
          <a:prstGeom prst="diamond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rPr lang="fr-FR" sz="1400" dirty="0">
                <a:solidFill>
                  <a:schemeClr val="tx1"/>
                </a:solidFill>
              </a:rPr>
              <a:t>Modélisation Neuro-Symbolique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4630C598-E4E7-698C-B024-9E2F77BDD90D}"/>
              </a:ext>
            </a:extLst>
          </p:cNvPr>
          <p:cNvSpPr/>
          <p:nvPr/>
        </p:nvSpPr>
        <p:spPr>
          <a:xfrm>
            <a:off x="2127689" y="6200047"/>
            <a:ext cx="1846023" cy="91440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400"/>
            </a:pPr>
            <a:r>
              <a:rPr lang="fr-FR" sz="1400" dirty="0"/>
              <a:t>Graphe spatio-temporel </a:t>
            </a:r>
            <a:endParaRPr sz="1400" dirty="0"/>
          </a:p>
        </p:txBody>
      </p:sp>
      <p:cxnSp>
        <p:nvCxnSpPr>
          <p:cNvPr id="71" name="Connecteur droit avec flèche 70">
            <a:extLst>
              <a:ext uri="{FF2B5EF4-FFF2-40B4-BE49-F238E27FC236}">
                <a16:creationId xmlns:a16="http://schemas.microsoft.com/office/drawing/2014/main" id="{8238B7F1-61FE-AB57-77CD-D5B43E81B973}"/>
              </a:ext>
            </a:extLst>
          </p:cNvPr>
          <p:cNvCxnSpPr>
            <a:stCxn id="63" idx="2"/>
            <a:endCxn id="67" idx="0"/>
          </p:cNvCxnSpPr>
          <p:nvPr/>
        </p:nvCxnSpPr>
        <p:spPr>
          <a:xfrm flipH="1">
            <a:off x="3050701" y="5924918"/>
            <a:ext cx="1" cy="2751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eur droit avec flèche 74">
            <a:extLst>
              <a:ext uri="{FF2B5EF4-FFF2-40B4-BE49-F238E27FC236}">
                <a16:creationId xmlns:a16="http://schemas.microsoft.com/office/drawing/2014/main" id="{7F7BFAF2-3DEE-65FD-6BA4-8EFDAD953493}"/>
              </a:ext>
            </a:extLst>
          </p:cNvPr>
          <p:cNvCxnSpPr>
            <a:cxnSpLocks/>
            <a:stCxn id="67" idx="2"/>
            <a:endCxn id="46" idx="0"/>
          </p:cNvCxnSpPr>
          <p:nvPr/>
        </p:nvCxnSpPr>
        <p:spPr>
          <a:xfrm flipH="1">
            <a:off x="3050700" y="7114447"/>
            <a:ext cx="1" cy="2853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eur droit avec flèche 76">
            <a:extLst>
              <a:ext uri="{FF2B5EF4-FFF2-40B4-BE49-F238E27FC236}">
                <a16:creationId xmlns:a16="http://schemas.microsoft.com/office/drawing/2014/main" id="{9CBF2570-22B2-37EE-386E-6D52F9C79819}"/>
              </a:ext>
            </a:extLst>
          </p:cNvPr>
          <p:cNvCxnSpPr>
            <a:cxnSpLocks/>
            <a:stCxn id="46" idx="2"/>
            <a:endCxn id="47" idx="0"/>
          </p:cNvCxnSpPr>
          <p:nvPr/>
        </p:nvCxnSpPr>
        <p:spPr>
          <a:xfrm>
            <a:off x="3050700" y="8594091"/>
            <a:ext cx="2" cy="2848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eur droit avec flèche 81">
            <a:extLst>
              <a:ext uri="{FF2B5EF4-FFF2-40B4-BE49-F238E27FC236}">
                <a16:creationId xmlns:a16="http://schemas.microsoft.com/office/drawing/2014/main" id="{622B8883-CC9C-95D0-D041-81A7EEEE69FB}"/>
              </a:ext>
            </a:extLst>
          </p:cNvPr>
          <p:cNvCxnSpPr>
            <a:cxnSpLocks/>
            <a:stCxn id="47" idx="2"/>
            <a:endCxn id="48" idx="0"/>
          </p:cNvCxnSpPr>
          <p:nvPr/>
        </p:nvCxnSpPr>
        <p:spPr>
          <a:xfrm>
            <a:off x="3050702" y="9793335"/>
            <a:ext cx="0" cy="3041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66</Words>
  <Application>Microsoft Office PowerPoint</Application>
  <PresentationFormat>Personnalisé</PresentationFormat>
  <Paragraphs>12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Mohamed Farah</dc:creator>
  <cp:keywords/>
  <dc:description>generated using python-pptx</dc:description>
  <cp:lastModifiedBy>FARAH mohamed</cp:lastModifiedBy>
  <cp:revision>2</cp:revision>
  <dcterms:created xsi:type="dcterms:W3CDTF">2013-01-27T09:14:16Z</dcterms:created>
  <dcterms:modified xsi:type="dcterms:W3CDTF">2026-02-21T15:00:30Z</dcterms:modified>
  <cp:category/>
</cp:coreProperties>
</file>